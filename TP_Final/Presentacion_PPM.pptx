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532625"/>
            <a:ext cx="5029200" cy="1677949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1097280" y="2514600"/>
            <a:ext cx="9966960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4000" b="1" i="0">
                <a:solidFill>
                  <a:srgbClr val="1F3B57"/>
                </a:solidFill>
                <a:latin typeface="Cambria"/>
              </a:rPr>
              <a:t>Modulador PPM controlado por UART implementado en FPGA</a:t>
            </a:r>
          </a:p>
        </p:txBody>
      </p:sp>
      <p:sp>
        <p:nvSpPr>
          <p:cNvPr id="4" name="Materia"/>
          <p:cNvSpPr txBox="1"/>
          <p:nvPr/>
        </p:nvSpPr>
        <p:spPr>
          <a:xfrm>
            <a:off x="1097280" y="434340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600" b="0" i="0">
                <a:solidFill>
                  <a:srgbClr val="1B2733"/>
                </a:solidFill>
                <a:latin typeface="Calibri"/>
              </a:rPr>
              <a:t>Circuitos Lógicos Programables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84632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 i="0">
                <a:solidFill>
                  <a:srgbClr val="667788"/>
                </a:solidFill>
                <a:latin typeface="Calibri"/>
              </a:rPr>
              <a:t>Especialización en Sistemas Embebidos</a:t>
            </a:r>
          </a:p>
        </p:txBody>
      </p:sp>
      <p:sp>
        <p:nvSpPr>
          <p:cNvPr id="6" name="Alumno"/>
          <p:cNvSpPr txBox="1"/>
          <p:nvPr/>
        </p:nvSpPr>
        <p:spPr>
          <a:xfrm>
            <a:off x="1097280" y="5623560"/>
            <a:ext cx="99669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1" i="0">
                <a:solidFill>
                  <a:srgbClr val="1F3B57"/>
                </a:solidFill>
                <a:latin typeface="Calibri"/>
              </a:rPr>
              <a:t>Mauro Ariel Gianchino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12648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0" i="0">
                <a:solidFill>
                  <a:srgbClr val="667788"/>
                </a:solidFill>
                <a:latin typeface="Calibri"/>
              </a:rPr>
              <a:t>13/10/2026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Contenido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14400" y="1554480"/>
            <a:ext cx="731520" cy="73152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4480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0" i="0">
                <a:solidFill>
                  <a:srgbClr val="1B2733"/>
                </a:solidFill>
                <a:latin typeface="Calibri"/>
              </a:rPr>
              <a:t>Modulación PPM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651760"/>
            <a:ext cx="731520" cy="73152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51760"/>
            <a:ext cx="4480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0" i="0">
                <a:solidFill>
                  <a:srgbClr val="1B2733"/>
                </a:solidFill>
                <a:latin typeface="Calibri"/>
              </a:rPr>
              <a:t>El trabajo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749039"/>
            <a:ext cx="731520" cy="73152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749039"/>
            <a:ext cx="4480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0" i="0">
                <a:solidFill>
                  <a:srgbClr val="1B2733"/>
                </a:solidFill>
                <a:latin typeface="Calibri"/>
              </a:rPr>
              <a:t>Implementación en VHDL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846320"/>
            <a:ext cx="731520" cy="73152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846320"/>
            <a:ext cx="4480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0" i="0">
                <a:solidFill>
                  <a:srgbClr val="1B2733"/>
                </a:solidFill>
                <a:latin typeface="Calibri"/>
              </a:rPr>
              <a:t>Simulación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1554480"/>
            <a:ext cx="731520" cy="73152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554480"/>
            <a:ext cx="4480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0" i="0">
                <a:solidFill>
                  <a:srgbClr val="1B2733"/>
                </a:solidFill>
                <a:latin typeface="Calibri"/>
              </a:rPr>
              <a:t>Síntesis e implementación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2651760"/>
            <a:ext cx="731520" cy="73152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651760"/>
            <a:ext cx="4480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0" i="0">
                <a:solidFill>
                  <a:srgbClr val="1B2733"/>
                </a:solidFill>
                <a:latin typeface="Calibri"/>
              </a:rPr>
              <a:t>Verificación en hardware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0" y="3749039"/>
            <a:ext cx="731520" cy="73152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749039"/>
            <a:ext cx="4480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0" i="0">
                <a:solidFill>
                  <a:srgbClr val="1B2733"/>
                </a:solidFill>
                <a:latin typeface="Calibri"/>
              </a:rPr>
              <a:t>Demo en vivo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úmero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800" b="1" i="0">
                <a:solidFill>
                  <a:srgbClr val="1BA5E0"/>
                </a:solidFill>
                <a:latin typeface="Cambria"/>
              </a:rPr>
              <a:t>01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22960" y="3200400"/>
            <a:ext cx="106070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Modulación por posición de pulso</a:t>
            </a:r>
          </a:p>
        </p:txBody>
      </p:sp>
      <p:sp>
        <p:nvSpPr>
          <p:cNvPr id="4" name="Transición"/>
          <p:cNvSpPr txBox="1"/>
          <p:nvPr/>
        </p:nvSpPr>
        <p:spPr>
          <a:xfrm>
            <a:off x="822960" y="4663440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Calibri"/>
              </a:rPr>
              <a:t>Antes del trabajo, un poco de teoría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Modular información con pulsos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pic>
        <p:nvPicPr>
          <p:cNvPr id="4" name="Comparación PAM PWM PPM" descr="modul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74673"/>
            <a:ext cx="7589520" cy="4857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73736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3B57"/>
                </a:solidFill>
                <a:latin typeface="Cambria"/>
              </a:rPr>
              <a:t>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286000"/>
            <a:ext cx="33832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1B2733"/>
                </a:solidFill>
                <a:latin typeface="Calibri"/>
              </a:rPr>
              <a:t>La amplitud lleva el dato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31546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3B57"/>
                </a:solidFill>
                <a:latin typeface="Cambria"/>
              </a:rPr>
              <a:t>PWM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703320"/>
            <a:ext cx="33832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1B2733"/>
                </a:solidFill>
                <a:latin typeface="Calibri"/>
              </a:rPr>
              <a:t>El ancho lleva el dato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57200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8A1F1F"/>
                </a:solidFill>
                <a:latin typeface="Cambria"/>
              </a:rPr>
              <a:t>PPM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120640"/>
            <a:ext cx="33832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1B2733"/>
                </a:solidFill>
                <a:latin typeface="Calibri"/>
              </a:rPr>
              <a:t>La posición del pulso lleva el dato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PPM de M niveles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pic>
        <p:nvPicPr>
          <p:cNvPr id="4" name="Estructura de la trama" descr="tr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050" y="1188720"/>
            <a:ext cx="9025419" cy="356615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4892040"/>
            <a:ext cx="4754880" cy="12801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937760"/>
            <a:ext cx="47548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800" b="0" i="1">
                <a:solidFill>
                  <a:srgbClr val="1F3B57"/>
                </a:solidFill>
                <a:latin typeface="Cambria"/>
              </a:rPr>
              <a:t>T = M · 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0" i="0">
                <a:solidFill>
                  <a:srgbClr val="667788"/>
                </a:solidFill>
                <a:latin typeface="Calibri"/>
              </a:rPr>
              <a:t>duración de la trama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892040"/>
            <a:ext cx="4754880" cy="12801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937760"/>
            <a:ext cx="47548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800" b="0" i="1">
                <a:solidFill>
                  <a:srgbClr val="8A1F1F"/>
                </a:solidFill>
                <a:latin typeface="Cambria"/>
              </a:rPr>
              <a:t>t = d · 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669280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0" i="0">
                <a:solidFill>
                  <a:srgbClr val="667788"/>
                </a:solidFill>
                <a:latin typeface="Calibri"/>
              </a:rPr>
              <a:t>posición del pulso para el dato 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El trabajo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82880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PC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Terminal serie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Adaptador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USB-serie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FPGA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Arty Z7-10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Modulador PPM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82880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Analizador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lógico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52928" y="2468880"/>
            <a:ext cx="548640" cy="457200"/>
          </a:xfrm>
          <a:prstGeom prst="rightArrow">
            <a:avLst/>
          </a:prstGeom>
          <a:solidFill>
            <a:srgbClr val="667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779008" y="2468880"/>
            <a:ext cx="548640" cy="457200"/>
          </a:xfrm>
          <a:prstGeom prst="rightArrow">
            <a:avLst/>
          </a:prstGeom>
          <a:solidFill>
            <a:srgbClr val="667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705088" y="2468880"/>
            <a:ext cx="548640" cy="457200"/>
          </a:xfrm>
          <a:prstGeom prst="rightArrow">
            <a:avLst/>
          </a:prstGeom>
          <a:solidFill>
            <a:srgbClr val="667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1F3B57"/>
                </a:solidFill>
                <a:latin typeface="Cambria"/>
              </a:rPr>
              <a:t>Escribo un carácter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0" i="0">
                <a:solidFill>
                  <a:srgbClr val="1B2733"/>
                </a:solidFill>
                <a:latin typeface="Calibri"/>
              </a:rPr>
              <a:t>y sale un pulso cuya posición depende de él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544068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8A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'A'  →  pulso a 650 µs del sync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úmero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800" b="1" i="0">
                <a:solidFill>
                  <a:srgbClr val="1BA5E0"/>
                </a:solidFill>
                <a:latin typeface="Cambria"/>
              </a:rPr>
              <a:t>02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22960" y="3200400"/>
            <a:ext cx="106070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Implementación en VHDL</a:t>
            </a:r>
          </a:p>
        </p:txBody>
      </p:sp>
      <p:sp>
        <p:nvSpPr>
          <p:cNvPr id="4" name="Transición"/>
          <p:cNvSpPr txBox="1"/>
          <p:nvPr/>
        </p:nvSpPr>
        <p:spPr>
          <a:xfrm>
            <a:off x="822960" y="4663440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Calibri"/>
              </a:rPr>
              <a:t>Del concepto al código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Arquitectura del diseño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pic>
        <p:nvPicPr>
          <p:cNvPr id="4" name="Diagrama en bloques" descr="diagrama_bloq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567" y="1234440"/>
            <a:ext cx="964638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El módulo mod_ppm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55448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783080"/>
            <a:ext cx="777240" cy="77724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43200"/>
            <a:ext cx="3017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F3B57"/>
                </a:solidFill>
                <a:latin typeface="Cambria"/>
              </a:rPr>
              <a:t>Contadores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429000"/>
            <a:ext cx="306324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1B2733"/>
                </a:solidFill>
                <a:latin typeface="Calibri"/>
              </a:rPr>
              <a:t>Dividen el tiempo en ranuras y tramas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1783080"/>
            <a:ext cx="777240" cy="77724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743200"/>
            <a:ext cx="3017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F3B57"/>
                </a:solidFill>
                <a:latin typeface="Cambria"/>
              </a:rPr>
              <a:t>Byte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429000"/>
            <a:ext cx="306324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1B2733"/>
                </a:solidFill>
                <a:latin typeface="Calibri"/>
              </a:rPr>
              <a:t>Captura el dato y lo usa en la trama siguiente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1783080"/>
            <a:ext cx="777240" cy="77724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743200"/>
            <a:ext cx="3017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F3B57"/>
                </a:solidFill>
                <a:latin typeface="Cambria"/>
              </a:rPr>
              <a:t>Salidas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429000"/>
            <a:ext cx="306324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1B2733"/>
                </a:solidFill>
                <a:latin typeface="Calibri"/>
              </a:rPr>
              <a:t>ppm_pin: el pulso</a:t>
            </a:r>
          </a:p>
          <a:p>
            <a:pPr algn="l"/>
            <a:r>
              <a:rPr sz="2000" b="0" i="0">
                <a:solidFill>
                  <a:srgbClr val="1B2733"/>
                </a:solidFill>
                <a:latin typeface="Calibri"/>
              </a:rPr>
              <a:t>sync_pin: inicio de trama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1" i="0">
                <a:solidFill>
                  <a:srgbClr val="8A1F1F"/>
                </a:solidFill>
                <a:latin typeface="Calibri"/>
              </a:rPr>
              <a:t>Un pulso por byte  ·  el primero gana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úmero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800" b="1" i="0">
                <a:solidFill>
                  <a:srgbClr val="1BA5E0"/>
                </a:solidFill>
                <a:latin typeface="Cambria"/>
              </a:rPr>
              <a:t>03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22960" y="3200400"/>
            <a:ext cx="106070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Simulación</a:t>
            </a:r>
          </a:p>
        </p:txBody>
      </p:sp>
      <p:sp>
        <p:nvSpPr>
          <p:cNvPr id="4" name="Transición"/>
          <p:cNvSpPr txBox="1"/>
          <p:nvPr/>
        </p:nvSpPr>
        <p:spPr>
          <a:xfrm>
            <a:off x="822960" y="4663440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Calibri"/>
              </a:rPr>
              <a:t>Primero verificamos el diseño en ModelSim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El pulso se mueve con el dato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pic>
        <p:nvPicPr>
          <p:cNvPr id="4" name="Simulación tb2" descr="sim_t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27" y="1234440"/>
            <a:ext cx="778890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69680" y="2103120"/>
            <a:ext cx="2926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F3B57"/>
                </a:solidFill>
                <a:latin typeface="Cambria"/>
              </a:rPr>
              <a:t>Bytes 0, 1, 2 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274320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1B2733"/>
                </a:solidFill>
                <a:latin typeface="Calibri"/>
              </a:rPr>
              <a:t>Un byte por trama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3566160"/>
            <a:ext cx="29260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1B2733"/>
                </a:solidFill>
                <a:latin typeface="Calibri"/>
              </a:rPr>
              <a:t>El pulso se corre una ranura en cada trama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Casos especiales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pic>
        <p:nvPicPr>
          <p:cNvPr id="4" name="Simulación tb3" descr="sim_t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5348"/>
            <a:ext cx="5577840" cy="3601542"/>
          </a:xfrm>
          <a:prstGeom prst="rect">
            <a:avLst/>
          </a:prstGeom>
        </p:spPr>
      </p:pic>
      <p:pic>
        <p:nvPicPr>
          <p:cNvPr id="5" name="Simulación tb4" descr="sim_t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46501"/>
            <a:ext cx="5577840" cy="35992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49240"/>
            <a:ext cx="5577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1F3B57"/>
                </a:solidFill>
                <a:latin typeface="Calibri"/>
              </a:rPr>
              <a:t>Dos bytes en la misma trama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06440"/>
            <a:ext cx="5577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0" i="0">
                <a:solidFill>
                  <a:srgbClr val="667788"/>
                </a:solidFill>
                <a:latin typeface="Calibri"/>
              </a:rPr>
              <a:t>Gana el primero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5349240"/>
            <a:ext cx="5577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1F3B57"/>
                </a:solidFill>
                <a:latin typeface="Calibri"/>
              </a:rPr>
              <a:t>rdy en alto durante varias tramas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806440"/>
            <a:ext cx="5577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0" i="0">
                <a:solidFill>
                  <a:srgbClr val="667788"/>
                </a:solidFill>
                <a:latin typeface="Calibri"/>
              </a:rPr>
              <a:t>Un solo pulso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Sistema completo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pic>
        <p:nvPicPr>
          <p:cNvPr id="4" name="Simulación sistema completo" descr="sim_t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32" y="1234440"/>
            <a:ext cx="77938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69680" y="2103120"/>
            <a:ext cx="29260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F3B57"/>
                </a:solidFill>
                <a:latin typeface="Cambria"/>
              </a:rPr>
              <a:t>Tres bytes por la línea serie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3566160"/>
            <a:ext cx="29260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1B2733"/>
                </a:solidFill>
                <a:latin typeface="Calibri"/>
              </a:rPr>
              <a:t>Un pulso por byte, cada vez más desplazado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úmero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800" b="1" i="0">
                <a:solidFill>
                  <a:srgbClr val="1BA5E0"/>
                </a:solidFill>
                <a:latin typeface="Cambria"/>
              </a:rPr>
              <a:t>04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22960" y="3200400"/>
            <a:ext cx="106070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Síntesis e implementación</a:t>
            </a:r>
          </a:p>
        </p:txBody>
      </p:sp>
      <p:sp>
        <p:nvSpPr>
          <p:cNvPr id="4" name="Transición"/>
          <p:cNvSpPr txBox="1"/>
          <p:nvPr/>
        </p:nvSpPr>
        <p:spPr>
          <a:xfrm>
            <a:off x="822960" y="4663440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Calibri"/>
              </a:rPr>
              <a:t>Llevamos el diseño a la FPGA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Esquemático generado por Vivado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371600"/>
            <a:ext cx="10515600" cy="4663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6677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arcador esquemático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1B2733"/>
                </a:solidFill>
                <a:latin typeface="Calibri"/>
              </a:rPr>
              <a:t>[INSERTAR ESQUEMÁTICO DE VIVADO]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0" i="0">
                <a:solidFill>
                  <a:srgbClr val="667788"/>
                </a:solidFill>
                <a:latin typeface="Calibri"/>
              </a:rPr>
              <a:t>Open Elaborated Design  →  Schematic  →  File  →  Export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Resultados de la implementación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1F3B57"/>
                </a:solidFill>
                <a:latin typeface="Cambria"/>
              </a:rPr>
              <a:t>Temporización cumplida</a:t>
            </a:r>
          </a:p>
        </p:txBody>
      </p:sp>
      <p:pic>
        <p:nvPicPr>
          <p:cNvPr id="6" name="Picture 5" descr="vivado_ti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29299"/>
            <a:ext cx="4937760" cy="1462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5029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1F3B57"/>
                </a:solidFill>
                <a:latin typeface="Cambria"/>
              </a:rPr>
              <a:t>Menos del 0,4 % de la FPGA</a:t>
            </a:r>
          </a:p>
        </p:txBody>
      </p:sp>
      <p:pic>
        <p:nvPicPr>
          <p:cNvPr id="9" name="Picture 8" descr="vivado_ut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757107"/>
            <a:ext cx="4937760" cy="28068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úmero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800" b="1" i="0">
                <a:solidFill>
                  <a:srgbClr val="1BA5E0"/>
                </a:solidFill>
                <a:latin typeface="Cambria"/>
              </a:rPr>
              <a:t>05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22960" y="3200400"/>
            <a:ext cx="106070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Verificación en hardware</a:t>
            </a:r>
          </a:p>
        </p:txBody>
      </p:sp>
      <p:sp>
        <p:nvSpPr>
          <p:cNvPr id="4" name="Transición"/>
          <p:cNvSpPr txBox="1"/>
          <p:nvPr/>
        </p:nvSpPr>
        <p:spPr>
          <a:xfrm>
            <a:off x="822960" y="4663440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Calibri"/>
              </a:rPr>
              <a:t>Ahora, en la placa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Bitstream y programación de la placa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pic>
        <p:nvPicPr>
          <p:cNvPr id="4" name="Foto del montaje" descr="banc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3029"/>
            <a:ext cx="6309360" cy="473202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315200" y="1737360"/>
            <a:ext cx="685800" cy="68580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645919"/>
            <a:ext cx="356616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1B2733"/>
                </a:solidFill>
                <a:latin typeface="Calibri"/>
              </a:rPr>
              <a:t>Generar el bitstream</a:t>
            </a:r>
          </a:p>
        </p:txBody>
      </p:sp>
      <p:sp>
        <p:nvSpPr>
          <p:cNvPr id="7" name="Oval 6"/>
          <p:cNvSpPr/>
          <p:nvPr/>
        </p:nvSpPr>
        <p:spPr>
          <a:xfrm>
            <a:off x="7315200" y="3154680"/>
            <a:ext cx="685800" cy="68580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3063240"/>
            <a:ext cx="356616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1B2733"/>
                </a:solidFill>
                <a:latin typeface="Calibri"/>
              </a:rPr>
              <a:t>Programar la FPGA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4572000"/>
            <a:ext cx="685800" cy="68580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480560"/>
            <a:ext cx="356616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1B2733"/>
                </a:solidFill>
                <a:latin typeface="Calibri"/>
              </a:rPr>
              <a:t>Conectar el analizador y el adaptador USB-serie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Mediciones: las señales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pic>
        <p:nvPicPr>
          <p:cNvPr id="4" name="Medición período" descr="hw_perio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798" y="1234440"/>
            <a:ext cx="9983923" cy="17373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301752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1F3B57"/>
                </a:solidFill>
                <a:latin typeface="Calibri"/>
              </a:rPr>
              <a:t>Período de la trama</a:t>
            </a:r>
          </a:p>
        </p:txBody>
      </p:sp>
      <p:pic>
        <p:nvPicPr>
          <p:cNvPr id="6" name="Medición ancho sync" descr="hw_sync_1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272" y="3611880"/>
            <a:ext cx="4147134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577840"/>
            <a:ext cx="49377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1F3B57"/>
                </a:solidFill>
                <a:latin typeface="Calibri"/>
              </a:rPr>
              <a:t>Pulso de sincronismo</a:t>
            </a:r>
          </a:p>
        </p:txBody>
      </p:sp>
      <p:pic>
        <p:nvPicPr>
          <p:cNvPr id="8" name="Medición ancho ppm" descr="hw_ppm_10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343" y="3611880"/>
            <a:ext cx="3126673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577840"/>
            <a:ext cx="49377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1F3B57"/>
                </a:solidFill>
                <a:latin typeface="Calibri"/>
              </a:rPr>
              <a:t>Pulso de dato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Mediciones: la posición del pulso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pic>
        <p:nvPicPr>
          <p:cNvPr id="4" name="Medición A" descr="hw_A_650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00175"/>
            <a:ext cx="10698480" cy="30518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75488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1F3B57"/>
                </a:solidFill>
                <a:latin typeface="Cambria"/>
              </a:rPr>
              <a:t>'A'  (ASCII 65)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0" i="0">
                <a:solidFill>
                  <a:srgbClr val="8A1F1F"/>
                </a:solidFill>
                <a:latin typeface="Calibri"/>
              </a:rPr>
              <a:t>el pulso aparece 650 µs después del sync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Caracteres distintos, posiciones distintas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pic>
        <p:nvPicPr>
          <p:cNvPr id="4" name="Retardos" descr="hw_retar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2743"/>
            <a:ext cx="8229600" cy="47525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1120" y="2286000"/>
            <a:ext cx="28346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F3B57"/>
                </a:solidFill>
                <a:latin typeface="Cambria"/>
              </a:rPr>
              <a:t>Tres caracteres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017520"/>
            <a:ext cx="28346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1B2733"/>
                </a:solidFill>
                <a:latin typeface="Calibri"/>
              </a:rPr>
              <a:t>El retardo crece con el valor del carácter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Prueba del reset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pic>
        <p:nvPicPr>
          <p:cNvPr id="4" name="Prueba del reset" descr="hw_re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30961"/>
            <a:ext cx="11064240" cy="1167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384048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1F3B57"/>
                </a:solidFill>
                <a:latin typeface="Cambria"/>
              </a:rPr>
              <a:t>Con el reset apretado, el sync se detiene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200" b="0" i="0">
                <a:solidFill>
                  <a:srgbClr val="1B2733"/>
                </a:solidFill>
                <a:latin typeface="Calibri"/>
              </a:rPr>
              <a:t>Al soltarlo, empieza una trama nueva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F3B57"/>
                </a:solidFill>
                <a:latin typeface="Cambria"/>
              </a:rPr>
              <a:t>Conclusiones</a:t>
            </a:r>
          </a:p>
        </p:txBody>
      </p:sp>
      <p:pic>
        <p:nvPicPr>
          <p:cNvPr id="3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1096266" cy="36576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097280" y="1737360"/>
            <a:ext cx="822960" cy="82296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737360"/>
            <a:ext cx="9144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0" i="0">
                <a:solidFill>
                  <a:srgbClr val="1B2733"/>
                </a:solidFill>
                <a:latin typeface="Calibri"/>
              </a:rPr>
              <a:t>Modulador PPM funcionando en la Arty Z7-10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3108960"/>
            <a:ext cx="822960" cy="82296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108960"/>
            <a:ext cx="9144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0" i="0">
                <a:solidFill>
                  <a:srgbClr val="1B2733"/>
                </a:solidFill>
                <a:latin typeface="Calibri"/>
              </a:rPr>
              <a:t>Verificado en simulación y en hardware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4480560"/>
            <a:ext cx="822960" cy="822960"/>
          </a:xfrm>
          <a:prstGeom prst="ellipse">
            <a:avLst/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480560"/>
            <a:ext cx="9144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0" i="0">
                <a:solidFill>
                  <a:srgbClr val="1B2733"/>
                </a:solidFill>
                <a:latin typeface="Calibri"/>
              </a:rPr>
              <a:t>Mejoras posibles: cola de bytes y ranura de guarda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úmero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800" b="1" i="0">
                <a:solidFill>
                  <a:srgbClr val="1BA5E0"/>
                </a:solidFill>
                <a:latin typeface="Cambria"/>
              </a:rPr>
              <a:t>06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22960" y="3200400"/>
            <a:ext cx="106070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Demo en vivo</a:t>
            </a:r>
          </a:p>
        </p:txBody>
      </p:sp>
      <p:sp>
        <p:nvSpPr>
          <p:cNvPr id="4" name="Transición"/>
          <p:cNvSpPr txBox="1"/>
          <p:nvPr/>
        </p:nvSpPr>
        <p:spPr>
          <a:xfrm>
            <a:off x="822960" y="4663440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Calibri"/>
              </a:rPr>
              <a:t>Escribo un carácter y se ve el pulso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77840"/>
            <a:ext cx="3200400" cy="731520"/>
          </a:xfrm>
          <a:prstGeom prst="roundRect">
            <a:avLst>
              <a:gd name="adj" fmla="val 8000"/>
            </a:avLst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Terminal serie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5577840"/>
            <a:ext cx="3200400" cy="731520"/>
          </a:xfrm>
          <a:prstGeom prst="roundRect">
            <a:avLst>
              <a:gd name="adj" fmla="val 8000"/>
            </a:avLst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Arty Z7-10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5577840"/>
            <a:ext cx="3200400" cy="731520"/>
          </a:xfrm>
          <a:prstGeom prst="roundRect">
            <a:avLst>
              <a:gd name="adj" fmla="val 8000"/>
            </a:avLst>
          </a:prstGeom>
          <a:solidFill>
            <a:srgbClr val="1BA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Analizador lógico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5760720"/>
            <a:ext cx="365760" cy="365760"/>
          </a:xfrm>
          <a:prstGeom prst="rightArrow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589520" y="5760720"/>
            <a:ext cx="365760" cy="365760"/>
          </a:xfrm>
          <a:prstGeom prst="rightArrow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 FIUBA" descr="logo_fiu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852665"/>
            <a:ext cx="5029200" cy="1677949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1097280" y="3017520"/>
            <a:ext cx="996696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6000" b="1" i="0">
                <a:solidFill>
                  <a:srgbClr val="1F3B57"/>
                </a:solidFill>
                <a:latin typeface="Cambria"/>
              </a:rP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0" i="0">
                <a:solidFill>
                  <a:srgbClr val="667788"/>
                </a:solidFill>
                <a:latin typeface="Calibri"/>
              </a:rPr>
              <a:t>Mauro Ariel Gianchino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