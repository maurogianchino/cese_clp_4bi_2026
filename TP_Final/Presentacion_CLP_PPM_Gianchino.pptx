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ds9rgcPFmykvdKSJWuajED26D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fiuba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532625"/>
            <a:ext cx="5029200" cy="167794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97280" y="2514600"/>
            <a:ext cx="9966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Modulador PPM controlado por UART implementado en FPGA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97280" y="434340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Circuitos Lógicos Programables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7788"/>
                </a:solidFill>
                <a:latin typeface="Calibri"/>
                <a:ea typeface="Calibri"/>
                <a:cs typeface="Calibri"/>
                <a:sym typeface="Calibri"/>
              </a:rPr>
              <a:t>Especialización en Sistemas Embebidos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97280" y="5623560"/>
            <a:ext cx="9966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3B57"/>
                </a:solidFill>
                <a:latin typeface="Calibri"/>
                <a:ea typeface="Calibri"/>
                <a:cs typeface="Calibri"/>
                <a:sym typeface="Calibri"/>
              </a:rPr>
              <a:t>Ing. </a:t>
            </a:r>
            <a:r>
              <a:rPr b="1" i="0" lang="en-US" sz="2400" u="none" cap="none" strike="noStrike">
                <a:solidFill>
                  <a:srgbClr val="1F3B57"/>
                </a:solidFill>
                <a:latin typeface="Calibri"/>
                <a:ea typeface="Calibri"/>
                <a:cs typeface="Calibri"/>
                <a:sym typeface="Calibri"/>
              </a:rPr>
              <a:t>Mauro Ariel Gianchino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67788"/>
                </a:solidFill>
                <a:latin typeface="Calibri"/>
                <a:ea typeface="Calibri"/>
                <a:cs typeface="Calibri"/>
                <a:sym typeface="Calibri"/>
              </a:rPr>
              <a:t>13/10/2026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Contenido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914400" y="155448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828800" y="155448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Modulación PPM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914400" y="2697464"/>
            <a:ext cx="731400" cy="73140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828825" y="2835314"/>
            <a:ext cx="44805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Implementación en VHDL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914400" y="3794470"/>
            <a:ext cx="731400" cy="73140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874488" y="3932320"/>
            <a:ext cx="44805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Simulación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583680" y="155448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7498079" y="155448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Síntesis e implementación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583680" y="2651760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7498079" y="265176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Verificación en hardware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583680" y="3749039"/>
            <a:ext cx="731520" cy="73152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498079" y="3749039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5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BA5E0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Modulación por posición de pulso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Modular información con pulsos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8412468" y="2812773"/>
            <a:ext cx="3291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PAM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8412530" y="3380413"/>
            <a:ext cx="3383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La amplitud lleva el dato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8412505" y="3944393"/>
            <a:ext cx="3291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PWM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8412505" y="4493033"/>
            <a:ext cx="3383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El ancho lleva el dato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8366768" y="5013775"/>
            <a:ext cx="3291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8A1F1F"/>
                </a:solidFill>
                <a:latin typeface="Cambria"/>
                <a:ea typeface="Cambria"/>
                <a:cs typeface="Cambria"/>
                <a:sym typeface="Cambria"/>
              </a:rPr>
              <a:t>PPM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8366768" y="5562415"/>
            <a:ext cx="33834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La posición del pulso lleva el dato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5400"/>
            <a:ext cx="8061970" cy="515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/>
        </p:nvSpPr>
        <p:spPr>
          <a:xfrm>
            <a:off x="548640" y="320040"/>
            <a:ext cx="110643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PPM de M </a:t>
            </a:r>
            <a:r>
              <a:rPr b="1" lang="en-US" sz="3400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datos</a:t>
            </a:r>
            <a:endParaRPr/>
          </a:p>
        </p:txBody>
      </p:sp>
      <p:pic>
        <p:nvPicPr>
          <p:cNvPr descr="trama.png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050" y="1188720"/>
            <a:ext cx="9025419" cy="356615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1097280" y="4892040"/>
            <a:ext cx="4754880" cy="128016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1097280" y="49377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8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T = M · τ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1097280" y="56692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7788"/>
                </a:solidFill>
                <a:latin typeface="Calibri"/>
                <a:ea typeface="Calibri"/>
                <a:cs typeface="Calibri"/>
                <a:sym typeface="Calibri"/>
              </a:rPr>
              <a:t>duración de la trama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309360" y="4892040"/>
            <a:ext cx="4754880" cy="128016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309360" y="4937760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800" u="none" cap="none" strike="noStrike">
                <a:solidFill>
                  <a:srgbClr val="8A1F1F"/>
                </a:solidFill>
                <a:latin typeface="Cambria"/>
                <a:ea typeface="Cambria"/>
                <a:cs typeface="Cambria"/>
                <a:sym typeface="Cambria"/>
              </a:rPr>
              <a:t>t = d · τ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6309360" y="56692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7788"/>
                </a:solidFill>
                <a:latin typeface="Calibri"/>
                <a:ea typeface="Calibri"/>
                <a:cs typeface="Calibri"/>
                <a:sym typeface="Calibri"/>
              </a:rPr>
              <a:t>posición del pulso para el dato 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El trabajo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548640" y="1828800"/>
            <a:ext cx="2286000" cy="1737360"/>
          </a:xfrm>
          <a:prstGeom prst="roundRect">
            <a:avLst>
              <a:gd fmla="val 8000" name="adj"/>
            </a:avLst>
          </a:prstGeom>
          <a:solidFill>
            <a:srgbClr val="1F3B57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Terminal serie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474720" y="1828800"/>
            <a:ext cx="2286000" cy="1737360"/>
          </a:xfrm>
          <a:prstGeom prst="roundRect">
            <a:avLst>
              <a:gd fmla="val 8000" name="adj"/>
            </a:avLst>
          </a:prstGeom>
          <a:solidFill>
            <a:srgbClr val="1F3B57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Adaptador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USB-serie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400800" y="1828800"/>
            <a:ext cx="2286000" cy="1737360"/>
          </a:xfrm>
          <a:prstGeom prst="roundRect">
            <a:avLst>
              <a:gd fmla="val 8000" name="adj"/>
            </a:avLst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FPGA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Arty Z7-10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Modulador PPM</a:t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9326880" y="1828800"/>
            <a:ext cx="2286000" cy="1737360"/>
          </a:xfrm>
          <a:prstGeom prst="roundRect">
            <a:avLst>
              <a:gd fmla="val 8000" name="adj"/>
            </a:avLst>
          </a:prstGeom>
          <a:solidFill>
            <a:srgbClr val="1F3B57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Analizador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lógico</a:t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2852928" y="2468880"/>
            <a:ext cx="54864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7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779008" y="2468880"/>
            <a:ext cx="54864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7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705088" y="2468880"/>
            <a:ext cx="54864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677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822960" y="406908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Escrib</a:t>
            </a:r>
            <a:r>
              <a:rPr b="1" lang="en-US" sz="3000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ir</a:t>
            </a:r>
            <a:r>
              <a:rPr b="1" i="0" lang="en-US" sz="30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 un carácter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822960" y="4617720"/>
            <a:ext cx="10515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obtengo</a:t>
            </a:r>
            <a:r>
              <a:rPr b="0" i="0" lang="en-US" sz="2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 un pulso cuya posición depende de</a:t>
            </a:r>
            <a:r>
              <a:rPr lang="en-US" sz="2400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l dato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5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BA5E0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Implementación en VHDL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Arquitectura del diseño</a:t>
            </a:r>
            <a:endParaRPr/>
          </a:p>
        </p:txBody>
      </p:sp>
      <p:pic>
        <p:nvPicPr>
          <p:cNvPr descr="diagrama_bloques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567" y="1234440"/>
            <a:ext cx="9646385" cy="498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El módulo mod_ppm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22959" y="1783080"/>
            <a:ext cx="777240" cy="77724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22959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Contadores</a:t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822959" y="3429000"/>
            <a:ext cx="3063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Dividen el tiempo en ranuras y tramas</a:t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343400" y="1554480"/>
            <a:ext cx="3520440" cy="356616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617720" y="1783080"/>
            <a:ext cx="777240" cy="77724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4617720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Byte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4617720" y="3429000"/>
            <a:ext cx="3063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Captura el dato y lo usa en la trama siguiente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8138160" y="1554480"/>
            <a:ext cx="3520440" cy="356616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412480" y="1783080"/>
            <a:ext cx="777240" cy="77724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8412480" y="2743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Salidas</a:t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8412480" y="3429000"/>
            <a:ext cx="3063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ppm_pin: el pulso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sync_pin: inicio de trama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822960" y="5440680"/>
            <a:ext cx="105156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A1F1F"/>
                </a:solidFill>
                <a:latin typeface="Calibri"/>
                <a:ea typeface="Calibri"/>
                <a:cs typeface="Calibri"/>
                <a:sym typeface="Calibri"/>
              </a:rPr>
              <a:t>Un pulso por byte  ·  el primero gana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5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BA5E0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Simulación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El pulso se mueve con el dato</a:t>
            </a:r>
            <a:endParaRPr/>
          </a:p>
        </p:txBody>
      </p:sp>
      <p:pic>
        <p:nvPicPr>
          <p:cNvPr descr="sim_tb2.png"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827" y="1234440"/>
            <a:ext cx="7788905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 txBox="1"/>
          <p:nvPr/>
        </p:nvSpPr>
        <p:spPr>
          <a:xfrm>
            <a:off x="8869680" y="2103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Bytes 0, 1, 2 y 3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8869680" y="27432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Un byte por trama</a:t>
            </a:r>
            <a:endParaRPr/>
          </a:p>
        </p:txBody>
      </p:sp>
      <p:sp>
        <p:nvSpPr>
          <p:cNvPr id="195" name="Google Shape;195;p11"/>
          <p:cNvSpPr txBox="1"/>
          <p:nvPr/>
        </p:nvSpPr>
        <p:spPr>
          <a:xfrm>
            <a:off x="8869680" y="356616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El pulso se corre una ranura en cada trama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Casos especiales</a:t>
            </a:r>
            <a:endParaRPr/>
          </a:p>
        </p:txBody>
      </p:sp>
      <p:pic>
        <p:nvPicPr>
          <p:cNvPr descr="sim_tb3.png"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45348"/>
            <a:ext cx="5577840" cy="3601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m_tb4.png" id="202" name="Google Shape;2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446501"/>
            <a:ext cx="5577840" cy="359923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 txBox="1"/>
          <p:nvPr/>
        </p:nvSpPr>
        <p:spPr>
          <a:xfrm>
            <a:off x="457200" y="534924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3B57"/>
                </a:solidFill>
                <a:latin typeface="Calibri"/>
                <a:ea typeface="Calibri"/>
                <a:cs typeface="Calibri"/>
                <a:sym typeface="Calibri"/>
              </a:rPr>
              <a:t>Dos bytes en la misma trama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457200" y="580644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7788"/>
                </a:solidFill>
                <a:latin typeface="Calibri"/>
                <a:ea typeface="Calibri"/>
                <a:cs typeface="Calibri"/>
                <a:sym typeface="Calibri"/>
              </a:rPr>
              <a:t>Gana el primero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172200" y="534924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3B57"/>
                </a:solidFill>
                <a:latin typeface="Calibri"/>
                <a:ea typeface="Calibri"/>
                <a:cs typeface="Calibri"/>
                <a:sym typeface="Calibri"/>
              </a:rPr>
              <a:t>rdy en alto durante varias tramas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172200" y="580644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7788"/>
                </a:solidFill>
                <a:latin typeface="Calibri"/>
                <a:ea typeface="Calibri"/>
                <a:cs typeface="Calibri"/>
                <a:sym typeface="Calibri"/>
              </a:rPr>
              <a:t>Un solo pulso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Sistema completo</a:t>
            </a:r>
            <a:endParaRPr/>
          </a:p>
        </p:txBody>
      </p:sp>
      <p:pic>
        <p:nvPicPr>
          <p:cNvPr descr="sim_tb5.png" id="212" name="Google Shape;2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332" y="1234440"/>
            <a:ext cx="7793895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 txBox="1"/>
          <p:nvPr/>
        </p:nvSpPr>
        <p:spPr>
          <a:xfrm>
            <a:off x="8869680" y="210312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Tres bytes por la línea serie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8869680" y="356616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Un pulso por byte, cada vez más desplazado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5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BA5E0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Síntesis e implementación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822960" y="466344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Llevamos el diseño a la FPGA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Esquemático generado por Vivado</a:t>
            </a:r>
            <a:endParaRPr/>
          </a:p>
        </p:txBody>
      </p:sp>
      <p:pic>
        <p:nvPicPr>
          <p:cNvPr id="227" name="Google Shape;227;p15" title="img1_bloque_p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575" y="1211600"/>
            <a:ext cx="5695550" cy="205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5" title="img2_bloques_p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413" y="3487800"/>
            <a:ext cx="9850476" cy="22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Resultados de la implementación</a:t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731520" y="155448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Temporización cumplida</a:t>
            </a:r>
            <a:endParaRPr/>
          </a:p>
        </p:txBody>
      </p:sp>
      <p:pic>
        <p:nvPicPr>
          <p:cNvPr descr="vivado_timing.png" id="236" name="Google Shape;2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429299"/>
            <a:ext cx="4937760" cy="146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fmla="val 8000" name="adj"/>
            </a:avLst>
          </a:prstGeom>
          <a:solidFill>
            <a:srgbClr val="EAF2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6446520" y="1554480"/>
            <a:ext cx="50292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Bajo uso de recursos</a:t>
            </a:r>
            <a:endParaRPr/>
          </a:p>
        </p:txBody>
      </p:sp>
      <p:pic>
        <p:nvPicPr>
          <p:cNvPr descr="vivado_util.png" id="239" name="Google Shape;2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2757107"/>
            <a:ext cx="4937760" cy="28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5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BA5E0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Verificación en hardware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Bitstream y programación de la placa</a:t>
            </a:r>
            <a:endParaRPr/>
          </a:p>
        </p:txBody>
      </p:sp>
      <p:pic>
        <p:nvPicPr>
          <p:cNvPr descr="banco.jpeg"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83029"/>
            <a:ext cx="6309360" cy="473202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/>
          <p:nvPr/>
        </p:nvSpPr>
        <p:spPr>
          <a:xfrm>
            <a:off x="7315200" y="1737360"/>
            <a:ext cx="685800" cy="68580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8183879" y="1645919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Generar el bitstream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7315200" y="3154680"/>
            <a:ext cx="685800" cy="68580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8183879" y="306324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Programar la FPGA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7315200" y="4572000"/>
            <a:ext cx="685800" cy="68580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8183879" y="448056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Conectar el analizador y el adaptador USB-serie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Mediciones: las señales</a:t>
            </a:r>
            <a:endParaRPr/>
          </a:p>
        </p:txBody>
      </p:sp>
      <p:pic>
        <p:nvPicPr>
          <p:cNvPr descr="hw_periodo.png"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798" y="1234440"/>
            <a:ext cx="9983923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 txBox="1"/>
          <p:nvPr/>
        </p:nvSpPr>
        <p:spPr>
          <a:xfrm>
            <a:off x="822960" y="30175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B57"/>
                </a:solidFill>
                <a:latin typeface="Calibri"/>
                <a:ea typeface="Calibri"/>
                <a:cs typeface="Calibri"/>
                <a:sym typeface="Calibri"/>
              </a:rPr>
              <a:t>Período de la trama</a:t>
            </a:r>
            <a:endParaRPr/>
          </a:p>
        </p:txBody>
      </p:sp>
      <p:pic>
        <p:nvPicPr>
          <p:cNvPr descr="hw_sync_1us.png" id="265" name="Google Shape;2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8272" y="3611880"/>
            <a:ext cx="4147134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 txBox="1"/>
          <p:nvPr/>
        </p:nvSpPr>
        <p:spPr>
          <a:xfrm>
            <a:off x="822960" y="55778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B57"/>
                </a:solidFill>
                <a:latin typeface="Calibri"/>
                <a:ea typeface="Calibri"/>
                <a:cs typeface="Calibri"/>
                <a:sym typeface="Calibri"/>
              </a:rPr>
              <a:t>Pulso de sincronismo</a:t>
            </a:r>
            <a:endParaRPr/>
          </a:p>
        </p:txBody>
      </p:sp>
      <p:pic>
        <p:nvPicPr>
          <p:cNvPr descr="hw_ppm_10us.png" id="267" name="Google Shape;2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6343" y="3611880"/>
            <a:ext cx="3126673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9"/>
          <p:cNvSpPr txBox="1"/>
          <p:nvPr/>
        </p:nvSpPr>
        <p:spPr>
          <a:xfrm>
            <a:off x="6400800" y="55778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B57"/>
                </a:solidFill>
                <a:latin typeface="Calibri"/>
                <a:ea typeface="Calibri"/>
                <a:cs typeface="Calibri"/>
                <a:sym typeface="Calibri"/>
              </a:rPr>
              <a:t>Pulso de dato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Mediciones: la posición del pulso</a:t>
            </a:r>
            <a:endParaRPr/>
          </a:p>
        </p:txBody>
      </p:sp>
      <p:pic>
        <p:nvPicPr>
          <p:cNvPr descr="hw_A_650us.png" id="274" name="Google Shape;2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00175"/>
            <a:ext cx="10698480" cy="305181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822960" y="47548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'A'  (ASCII 65)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A1F1F"/>
                </a:solidFill>
                <a:latin typeface="Calibri"/>
                <a:ea typeface="Calibri"/>
                <a:cs typeface="Calibri"/>
                <a:sym typeface="Calibri"/>
              </a:rPr>
              <a:t>el pulso aparece 650 µs después del sync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Caracteres distintos, posiciones distintas</a:t>
            </a:r>
            <a:endParaRPr/>
          </a:p>
        </p:txBody>
      </p:sp>
      <p:pic>
        <p:nvPicPr>
          <p:cNvPr descr="hw_retardos.png" id="282" name="Google Shape;2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2743"/>
            <a:ext cx="8229600" cy="47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8961120" y="228600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Tres caracteres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8961120" y="3017520"/>
            <a:ext cx="2834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El retardo crece con el valor del carácter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Prueba del reset</a:t>
            </a:r>
            <a:endParaRPr/>
          </a:p>
        </p:txBody>
      </p:sp>
      <p:pic>
        <p:nvPicPr>
          <p:cNvPr descr="hw_reset.png" id="290" name="Google Shape;2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930961"/>
            <a:ext cx="11064240" cy="116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Con el reset apretado, el sync se detiene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Al soltarlo, empieza una trama nueva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1097280" y="1737360"/>
            <a:ext cx="822960" cy="82296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2194560" y="17373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Modulador PPM funcionando en la Arty Z7-10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1097280" y="3108960"/>
            <a:ext cx="822960" cy="82296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2194560" y="31089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Verificado en simulación y en hardware</a:t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1097280" y="4480560"/>
            <a:ext cx="822960" cy="822960"/>
          </a:xfrm>
          <a:prstGeom prst="ellipse">
            <a:avLst/>
          </a:prstGeom>
          <a:solidFill>
            <a:srgbClr val="1BA5E0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2194560" y="44805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Mejoras posibles: cola de bytes y ranura de guarda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57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4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1BA5E0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822960" y="320040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 en vivo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fiuba.png"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852665"/>
            <a:ext cx="5029200" cy="167794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/>
        </p:nvSpPr>
        <p:spPr>
          <a:xfrm>
            <a:off x="1097280" y="3017520"/>
            <a:ext cx="9966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F3B57"/>
                </a:solidFill>
                <a:latin typeface="Cambria"/>
                <a:ea typeface="Cambria"/>
                <a:cs typeface="Cambria"/>
                <a:sym typeface="Cambria"/>
              </a:rPr>
              <a:t>¿Preguntas?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